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9" r:id="rId9"/>
    <p:sldId id="264" r:id="rId10"/>
    <p:sldId id="265" r:id="rId11"/>
    <p:sldId id="263" r:id="rId12"/>
    <p:sldId id="266" r:id="rId13"/>
    <p:sldId id="267"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p:scale>
          <a:sx n="100" d="100"/>
          <a:sy n="100" d="100"/>
        </p:scale>
        <p:origin x="1544"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110C27-D234-244B-8291-2DBA364E4551}" type="datetimeFigureOut">
              <a:rPr lang="en-US" smtClean="0"/>
              <a:t>2/24/21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4BB35-9DF7-8647-98FE-3686F802A8A4}" type="slidenum">
              <a:rPr lang="en-US" smtClean="0"/>
              <a:t>‹#›</a:t>
            </a:fld>
            <a:endParaRPr lang="en-US"/>
          </a:p>
        </p:txBody>
      </p:sp>
    </p:spTree>
    <p:extLst>
      <p:ext uri="{BB962C8B-B14F-4D97-AF65-F5344CB8AC3E}">
        <p14:creationId xmlns:p14="http://schemas.microsoft.com/office/powerpoint/2010/main" val="1846960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4BB35-9DF7-8647-98FE-3686F802A8A4}" type="slidenum">
              <a:rPr lang="en-US" smtClean="0"/>
              <a:t>7</a:t>
            </a:fld>
            <a:endParaRPr lang="en-US"/>
          </a:p>
        </p:txBody>
      </p:sp>
    </p:spTree>
    <p:extLst>
      <p:ext uri="{BB962C8B-B14F-4D97-AF65-F5344CB8AC3E}">
        <p14:creationId xmlns:p14="http://schemas.microsoft.com/office/powerpoint/2010/main" val="8398308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4BB35-9DF7-8647-98FE-3686F802A8A4}" type="slidenum">
              <a:rPr lang="en-US" smtClean="0"/>
              <a:t>9</a:t>
            </a:fld>
            <a:endParaRPr lang="en-US"/>
          </a:p>
        </p:txBody>
      </p:sp>
    </p:spTree>
    <p:extLst>
      <p:ext uri="{BB962C8B-B14F-4D97-AF65-F5344CB8AC3E}">
        <p14:creationId xmlns:p14="http://schemas.microsoft.com/office/powerpoint/2010/main" val="18857161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BC4BB35-9DF7-8647-98FE-3686F802A8A4}" type="slidenum">
              <a:rPr lang="en-US" smtClean="0"/>
              <a:t>10</a:t>
            </a:fld>
            <a:endParaRPr lang="en-US"/>
          </a:p>
        </p:txBody>
      </p:sp>
    </p:spTree>
    <p:extLst>
      <p:ext uri="{BB962C8B-B14F-4D97-AF65-F5344CB8AC3E}">
        <p14:creationId xmlns:p14="http://schemas.microsoft.com/office/powerpoint/2010/main" val="3844545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C71CE2-3FDE-8741-8B61-C34A371F313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BEFF78F-0DF1-E045-A70C-F88666A324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CFF2C13-B950-5C49-AEC7-D50BE30ECD3C}"/>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5" name="Footer Placeholder 4">
            <a:extLst>
              <a:ext uri="{FF2B5EF4-FFF2-40B4-BE49-F238E27FC236}">
                <a16:creationId xmlns:a16="http://schemas.microsoft.com/office/drawing/2014/main" id="{A75D7C27-2253-DF45-8855-C647C4F9CD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708100-D0EC-F84C-ADDF-944CBDBC4648}"/>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41674037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DBEF8-EBBE-BB4C-8E55-819E338DCA9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24B2CBD-0FCC-ED49-8706-F84946AD56E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339D383-D259-B54D-98DA-1FCD21D95D3D}"/>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5" name="Footer Placeholder 4">
            <a:extLst>
              <a:ext uri="{FF2B5EF4-FFF2-40B4-BE49-F238E27FC236}">
                <a16:creationId xmlns:a16="http://schemas.microsoft.com/office/drawing/2014/main" id="{F48C05B3-0DD2-4446-8900-7686532A7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E5B9D9-0698-6E47-8442-5E8512CB9B88}"/>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36398774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9DDF-0CCA-CE49-AF1B-B56198D076C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F667530-C930-DE4E-B2B0-9B109C86738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159FAA2-430B-4C42-8E80-EAA68074E5E4}"/>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5" name="Footer Placeholder 4">
            <a:extLst>
              <a:ext uri="{FF2B5EF4-FFF2-40B4-BE49-F238E27FC236}">
                <a16:creationId xmlns:a16="http://schemas.microsoft.com/office/drawing/2014/main" id="{26E9634A-875F-2345-B61C-D4494A5A3C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B78CE2-83E2-0944-BADE-D9649F435AC4}"/>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1114558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DC221D-183B-E440-A9EF-A6FD7AF9FBB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24DDB07-5B2A-9E4B-B519-A714EAED0C0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A6386FE-F38A-064E-9EAF-C708F6540278}"/>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9161924-729E-3A4F-B1D6-73B45E1A74EA}"/>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6" name="Footer Placeholder 5">
            <a:extLst>
              <a:ext uri="{FF2B5EF4-FFF2-40B4-BE49-F238E27FC236}">
                <a16:creationId xmlns:a16="http://schemas.microsoft.com/office/drawing/2014/main" id="{99869DE1-8C50-C045-84E0-7130D74A43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0BBDA-40E5-2943-A355-CA3FA335A56F}"/>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495447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AFC15-D667-7341-A7FE-93DAB15ECB0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35DABB2-1F4A-EB49-92AE-9C2C55A3D1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A54A1E5-199E-0044-8BA5-BF5977084DA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3E5E33-44DC-1A4F-81AF-A3D2C23264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1F88BFA-6527-114F-99A5-EE691C4A38C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8125D09-B0E0-4348-AA2B-BAFBCBA05575}"/>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8" name="Footer Placeholder 7">
            <a:extLst>
              <a:ext uri="{FF2B5EF4-FFF2-40B4-BE49-F238E27FC236}">
                <a16:creationId xmlns:a16="http://schemas.microsoft.com/office/drawing/2014/main" id="{04202B62-7571-6149-BDD0-3064DBAB49A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F4CED74-5E9A-634E-9EC6-F2755AD49DFB}"/>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494434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E3D7F-B3CE-4249-B607-7E11FCF586C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300BC46-15A7-C745-A098-7D9EE069529F}"/>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4" name="Footer Placeholder 3">
            <a:extLst>
              <a:ext uri="{FF2B5EF4-FFF2-40B4-BE49-F238E27FC236}">
                <a16:creationId xmlns:a16="http://schemas.microsoft.com/office/drawing/2014/main" id="{CD9285F0-85A8-AC46-B004-4A483CECE32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2047AD-8898-3741-A0FE-3D1FFC8EE03F}"/>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2481778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D2B265-11EF-5240-9477-A5172C6E1121}"/>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3" name="Footer Placeholder 2">
            <a:extLst>
              <a:ext uri="{FF2B5EF4-FFF2-40B4-BE49-F238E27FC236}">
                <a16:creationId xmlns:a16="http://schemas.microsoft.com/office/drawing/2014/main" id="{173075B2-1E2F-C04B-8F0B-F58E429B0B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654C26-D02C-4640-9C8E-9A6C625D7939}"/>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4266222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0621E-EE60-7343-A7CC-95917ACBB72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91FE78E-3269-A143-9620-32CCC36EA1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2041D632-900C-A44C-AD20-37E66B9F2E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8902F6-BE23-5F49-93F5-E963C4B9724F}"/>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6" name="Footer Placeholder 5">
            <a:extLst>
              <a:ext uri="{FF2B5EF4-FFF2-40B4-BE49-F238E27FC236}">
                <a16:creationId xmlns:a16="http://schemas.microsoft.com/office/drawing/2014/main" id="{C6C6D8C9-7B6C-1346-8E63-94740FF72A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117BC6-9C3B-C045-88BC-345922D2466F}"/>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2564111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4EEA2-00F1-1D40-A67A-A3570F875E2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F5647967-9C2C-F945-999F-C42DCCCE1C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C0AF8A1-A2AB-1044-B0B1-BDFBB2E448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A5DA5A3-AB5A-914B-BBCF-B012BEC23699}"/>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6" name="Footer Placeholder 5">
            <a:extLst>
              <a:ext uri="{FF2B5EF4-FFF2-40B4-BE49-F238E27FC236}">
                <a16:creationId xmlns:a16="http://schemas.microsoft.com/office/drawing/2014/main" id="{AF5166EB-E138-0B4D-A9B7-97E2F85CC8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44335D-30B2-4A41-8878-757DD310EB60}"/>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4047268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A4E81-A216-584E-BD7F-3BB01AABC20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8299A22-A4A7-4648-B975-3733329AD1F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56F772-8448-A74F-AD7A-D62EF7E2A498}"/>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5" name="Footer Placeholder 4">
            <a:extLst>
              <a:ext uri="{FF2B5EF4-FFF2-40B4-BE49-F238E27FC236}">
                <a16:creationId xmlns:a16="http://schemas.microsoft.com/office/drawing/2014/main" id="{22B9A02A-B940-144F-8FD0-33618F6ED6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1559EE-00CD-7C4C-85E4-4F321A0B8CF7}"/>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3682409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DC2E06-CF89-2C4E-9569-08FD246BB92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27754A36-45B9-F943-B0C7-A8B6C7F82AD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A5723DE-952D-F44B-9C28-DF33518995E3}"/>
              </a:ext>
            </a:extLst>
          </p:cNvPr>
          <p:cNvSpPr>
            <a:spLocks noGrp="1"/>
          </p:cNvSpPr>
          <p:nvPr>
            <p:ph type="dt" sz="half" idx="10"/>
          </p:nvPr>
        </p:nvSpPr>
        <p:spPr/>
        <p:txBody>
          <a:bodyPr/>
          <a:lstStyle/>
          <a:p>
            <a:fld id="{47B4C08F-5BAD-784C-92BC-E89691C6962D}" type="datetimeFigureOut">
              <a:rPr lang="en-US" smtClean="0"/>
              <a:t>2/18/21</a:t>
            </a:fld>
            <a:endParaRPr lang="en-US"/>
          </a:p>
        </p:txBody>
      </p:sp>
      <p:sp>
        <p:nvSpPr>
          <p:cNvPr id="5" name="Footer Placeholder 4">
            <a:extLst>
              <a:ext uri="{FF2B5EF4-FFF2-40B4-BE49-F238E27FC236}">
                <a16:creationId xmlns:a16="http://schemas.microsoft.com/office/drawing/2014/main" id="{61429FF4-FE92-C94F-AC52-E268C7C88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568C0-769D-1A48-86C7-2770100BCF0E}"/>
              </a:ext>
            </a:extLst>
          </p:cNvPr>
          <p:cNvSpPr>
            <a:spLocks noGrp="1"/>
          </p:cNvSpPr>
          <p:nvPr>
            <p:ph type="sldNum" sz="quarter" idx="12"/>
          </p:nvPr>
        </p:nvSpPr>
        <p:spPr/>
        <p:txBody>
          <a:bodyPr/>
          <a:lstStyle/>
          <a:p>
            <a:fld id="{704717ED-E7B2-A54B-9EA1-05C2E152C1F3}" type="slidenum">
              <a:rPr lang="en-US" smtClean="0"/>
              <a:t>‹#›</a:t>
            </a:fld>
            <a:endParaRPr lang="en-US"/>
          </a:p>
        </p:txBody>
      </p:sp>
    </p:spTree>
    <p:extLst>
      <p:ext uri="{BB962C8B-B14F-4D97-AF65-F5344CB8AC3E}">
        <p14:creationId xmlns:p14="http://schemas.microsoft.com/office/powerpoint/2010/main" val="33986662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620527-6889-1846-B0F6-44D11DE994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79CAA9F-2FF8-A241-B542-28F067D5F2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BA4757-9F88-B646-AC94-6968DEF8A8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B4C08F-5BAD-784C-92BC-E89691C6962D}" type="datetimeFigureOut">
              <a:rPr lang="en-US" smtClean="0"/>
              <a:t>2/18/21</a:t>
            </a:fld>
            <a:endParaRPr lang="en-US"/>
          </a:p>
        </p:txBody>
      </p:sp>
      <p:sp>
        <p:nvSpPr>
          <p:cNvPr id="5" name="Footer Placeholder 4">
            <a:extLst>
              <a:ext uri="{FF2B5EF4-FFF2-40B4-BE49-F238E27FC236}">
                <a16:creationId xmlns:a16="http://schemas.microsoft.com/office/drawing/2014/main" id="{B4A8A2E7-B700-B443-AB09-0B927790759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8726EB-922D-FE44-8F94-1F27EC8D4C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4717ED-E7B2-A54B-9EA1-05C2E152C1F3}" type="slidenum">
              <a:rPr lang="en-US" smtClean="0"/>
              <a:t>‹#›</a:t>
            </a:fld>
            <a:endParaRPr lang="en-US"/>
          </a:p>
        </p:txBody>
      </p:sp>
    </p:spTree>
    <p:extLst>
      <p:ext uri="{BB962C8B-B14F-4D97-AF65-F5344CB8AC3E}">
        <p14:creationId xmlns:p14="http://schemas.microsoft.com/office/powerpoint/2010/main" val="23266956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8" name="Rectangle 28">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9" name="Freeform: Shape 30">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Freeform: Shape 32">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ACF990C-147A-564D-AF26-E55CDE04BA5F}"/>
              </a:ext>
            </a:extLst>
          </p:cNvPr>
          <p:cNvSpPr>
            <a:spLocks noGrp="1"/>
          </p:cNvSpPr>
          <p:nvPr>
            <p:ph type="ctrTitle"/>
          </p:nvPr>
        </p:nvSpPr>
        <p:spPr>
          <a:xfrm>
            <a:off x="1524003" y="1999615"/>
            <a:ext cx="9144000" cy="2764028"/>
          </a:xfrm>
        </p:spPr>
        <p:txBody>
          <a:bodyPr anchor="ctr">
            <a:normAutofit/>
          </a:bodyPr>
          <a:lstStyle/>
          <a:p>
            <a:r>
              <a:rPr lang="en-US" sz="7200"/>
              <a:t>JAVA DESIGN PATTERNS</a:t>
            </a:r>
          </a:p>
        </p:txBody>
      </p:sp>
      <p:sp>
        <p:nvSpPr>
          <p:cNvPr id="35" name="Rectangle 34">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64344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Benefits of Design Patterns:</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8925910" cy="5169666"/>
          </a:xfrm>
        </p:spPr>
        <p:txBody>
          <a:bodyPr>
            <a:normAutofit/>
          </a:bodyPr>
          <a:lstStyle/>
          <a:p>
            <a:r>
              <a:rPr lang="en-IN" sz="2400" dirty="0"/>
              <a:t>Already defined and provides </a:t>
            </a:r>
            <a:r>
              <a:rPr lang="en-IN" sz="2400" b="1" dirty="0"/>
              <a:t>industry standard approach</a:t>
            </a:r>
            <a:r>
              <a:rPr lang="en-IN" sz="2400" dirty="0"/>
              <a:t> to solve a recurring problem</a:t>
            </a:r>
          </a:p>
          <a:p>
            <a:r>
              <a:rPr lang="en-IN" sz="2400" dirty="0"/>
              <a:t>Promotes </a:t>
            </a:r>
            <a:r>
              <a:rPr lang="en-IN" sz="2400" b="1" dirty="0"/>
              <a:t>reusability</a:t>
            </a:r>
            <a:r>
              <a:rPr lang="en-IN" sz="2400" dirty="0"/>
              <a:t> leading to more </a:t>
            </a:r>
            <a:r>
              <a:rPr lang="en-IN" sz="2400" b="1" dirty="0"/>
              <a:t>robust</a:t>
            </a:r>
            <a:r>
              <a:rPr lang="en-IN" sz="2400" dirty="0"/>
              <a:t> and highly maintainable code.</a:t>
            </a:r>
          </a:p>
          <a:p>
            <a:r>
              <a:rPr lang="en-IN" sz="2400" dirty="0"/>
              <a:t>Leads to faster development </a:t>
            </a:r>
            <a:endParaRPr lang="en-US" sz="2400" dirty="0"/>
          </a:p>
        </p:txBody>
      </p:sp>
    </p:spTree>
    <p:extLst>
      <p:ext uri="{BB962C8B-B14F-4D97-AF65-F5344CB8AC3E}">
        <p14:creationId xmlns:p14="http://schemas.microsoft.com/office/powerpoint/2010/main" val="74939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Singleton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8925910" cy="5169666"/>
          </a:xfrm>
        </p:spPr>
        <p:txBody>
          <a:bodyPr>
            <a:normAutofit/>
          </a:bodyPr>
          <a:lstStyle/>
          <a:p>
            <a:r>
              <a:rPr lang="en-IN" sz="2400" dirty="0"/>
              <a:t>Restricts the instantiation of a class and ensures that only one instance of the class exists in the java virtual machine</a:t>
            </a:r>
          </a:p>
          <a:p>
            <a:r>
              <a:rPr lang="en-IN" sz="2400" dirty="0"/>
              <a:t>Must provide a global access point to get the instance of the class</a:t>
            </a:r>
          </a:p>
        </p:txBody>
      </p:sp>
      <p:sp>
        <p:nvSpPr>
          <p:cNvPr id="4" name="Title 1">
            <a:extLst>
              <a:ext uri="{FF2B5EF4-FFF2-40B4-BE49-F238E27FC236}">
                <a16:creationId xmlns:a16="http://schemas.microsoft.com/office/drawing/2014/main" id="{06F09630-86DD-4145-99E9-8838E7410084}"/>
              </a:ext>
            </a:extLst>
          </p:cNvPr>
          <p:cNvSpPr txBox="1">
            <a:spLocks/>
          </p:cNvSpPr>
          <p:nvPr/>
        </p:nvSpPr>
        <p:spPr>
          <a:xfrm>
            <a:off x="754118" y="2619594"/>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Singleton Pattern Implementation:</a:t>
            </a:r>
          </a:p>
        </p:txBody>
      </p:sp>
      <p:sp>
        <p:nvSpPr>
          <p:cNvPr id="5" name="Content Placeholder 2">
            <a:extLst>
              <a:ext uri="{FF2B5EF4-FFF2-40B4-BE49-F238E27FC236}">
                <a16:creationId xmlns:a16="http://schemas.microsoft.com/office/drawing/2014/main" id="{4E04D22A-5C45-4F45-B0EE-B6D3D396D52B}"/>
              </a:ext>
            </a:extLst>
          </p:cNvPr>
          <p:cNvSpPr txBox="1">
            <a:spLocks/>
          </p:cNvSpPr>
          <p:nvPr/>
        </p:nvSpPr>
        <p:spPr>
          <a:xfrm>
            <a:off x="1294087" y="3536731"/>
            <a:ext cx="9752284" cy="2100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a:t>Private constructor to restrict instantiation of the class from other classes</a:t>
            </a:r>
          </a:p>
          <a:p>
            <a:r>
              <a:rPr lang="en-IN" sz="2200"/>
              <a:t>Private static variable of the same class that is the only instance of the class.</a:t>
            </a:r>
          </a:p>
          <a:p>
            <a:r>
              <a:rPr lang="en-IN" sz="2200"/>
              <a:t>Public static method that returns the instance of the class, this is the global access point for outer world to get the instance of the singleton class.</a:t>
            </a:r>
          </a:p>
          <a:p>
            <a:r>
              <a:rPr lang="en-IN" sz="2200"/>
              <a:t>Various initialization techniques like Eager, Lazy, Thread Safe, etc.</a:t>
            </a:r>
          </a:p>
          <a:p>
            <a:r>
              <a:rPr lang="en-IN" sz="2200"/>
              <a:t>https://github.com/amanjain201/JavaDesignPattern/tree/master/src/singleton</a:t>
            </a:r>
          </a:p>
          <a:p>
            <a:endParaRPr lang="en-IN" sz="2200" dirty="0"/>
          </a:p>
        </p:txBody>
      </p:sp>
    </p:spTree>
    <p:extLst>
      <p:ext uri="{BB962C8B-B14F-4D97-AF65-F5344CB8AC3E}">
        <p14:creationId xmlns:p14="http://schemas.microsoft.com/office/powerpoint/2010/main" val="3203183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5D1DF2-99E1-7D4F-8FB2-764EFC237616}"/>
              </a:ext>
            </a:extLst>
          </p:cNvPr>
          <p:cNvSpPr txBox="1">
            <a:spLocks/>
          </p:cNvSpPr>
          <p:nvPr/>
        </p:nvSpPr>
        <p:spPr>
          <a:xfrm>
            <a:off x="851019" y="411217"/>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Usages:</a:t>
            </a:r>
          </a:p>
        </p:txBody>
      </p:sp>
      <p:sp>
        <p:nvSpPr>
          <p:cNvPr id="5" name="Content Placeholder 2">
            <a:extLst>
              <a:ext uri="{FF2B5EF4-FFF2-40B4-BE49-F238E27FC236}">
                <a16:creationId xmlns:a16="http://schemas.microsoft.com/office/drawing/2014/main" id="{B7D2A421-28D3-C94C-887D-40C0EC2A841C}"/>
              </a:ext>
            </a:extLst>
          </p:cNvPr>
          <p:cNvSpPr txBox="1">
            <a:spLocks/>
          </p:cNvSpPr>
          <p:nvPr/>
        </p:nvSpPr>
        <p:spPr>
          <a:xfrm>
            <a:off x="1390987" y="1328354"/>
            <a:ext cx="9752285" cy="21006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Singleton pattern is used for logging, drivers objects, caching and thread pool.</a:t>
            </a:r>
          </a:p>
          <a:p>
            <a:r>
              <a:rPr lang="en-IN" sz="2000" dirty="0"/>
              <a:t>Singleton design pattern is used in core java classes also, for example </a:t>
            </a:r>
            <a:r>
              <a:rPr lang="en-IN" sz="2000" dirty="0" err="1"/>
              <a:t>java.lang.Runtime</a:t>
            </a:r>
            <a:r>
              <a:rPr lang="en-IN" sz="2000" dirty="0"/>
              <a:t>, </a:t>
            </a:r>
            <a:r>
              <a:rPr lang="en-IN" sz="2000" dirty="0" err="1"/>
              <a:t>java.awt.Desktop</a:t>
            </a:r>
            <a:r>
              <a:rPr lang="en-IN" sz="2000" dirty="0"/>
              <a:t>.</a:t>
            </a:r>
          </a:p>
        </p:txBody>
      </p:sp>
    </p:spTree>
    <p:extLst>
      <p:ext uri="{BB962C8B-B14F-4D97-AF65-F5344CB8AC3E}">
        <p14:creationId xmlns:p14="http://schemas.microsoft.com/office/powerpoint/2010/main" val="25115071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Factory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8925910" cy="5169666"/>
          </a:xfrm>
        </p:spPr>
        <p:txBody>
          <a:bodyPr>
            <a:normAutofit/>
          </a:bodyPr>
          <a:lstStyle/>
          <a:p>
            <a:r>
              <a:rPr lang="en-IN" sz="2400" dirty="0"/>
              <a:t>Used when we have a superclass with multiple sub-classes and based on input, we need to return one of the sub-class</a:t>
            </a:r>
          </a:p>
        </p:txBody>
      </p:sp>
      <p:sp>
        <p:nvSpPr>
          <p:cNvPr id="4" name="Title 1">
            <a:extLst>
              <a:ext uri="{FF2B5EF4-FFF2-40B4-BE49-F238E27FC236}">
                <a16:creationId xmlns:a16="http://schemas.microsoft.com/office/drawing/2014/main" id="{9C8CE803-668A-0C49-B852-F79BF81FD1DE}"/>
              </a:ext>
            </a:extLst>
          </p:cNvPr>
          <p:cNvSpPr txBox="1">
            <a:spLocks/>
          </p:cNvSpPr>
          <p:nvPr/>
        </p:nvSpPr>
        <p:spPr>
          <a:xfrm>
            <a:off x="601719" y="1961247"/>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Factory Pattern Implementation:</a:t>
            </a:r>
          </a:p>
        </p:txBody>
      </p:sp>
      <p:sp>
        <p:nvSpPr>
          <p:cNvPr id="5" name="Content Placeholder 2">
            <a:extLst>
              <a:ext uri="{FF2B5EF4-FFF2-40B4-BE49-F238E27FC236}">
                <a16:creationId xmlns:a16="http://schemas.microsoft.com/office/drawing/2014/main" id="{36DAA9EA-0D6C-DE47-AAB6-CDAB76F2D469}"/>
              </a:ext>
            </a:extLst>
          </p:cNvPr>
          <p:cNvSpPr txBox="1">
            <a:spLocks/>
          </p:cNvSpPr>
          <p:nvPr/>
        </p:nvSpPr>
        <p:spPr>
          <a:xfrm>
            <a:off x="1446486" y="5137608"/>
            <a:ext cx="9752284" cy="2100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err="1"/>
              <a:t>java.util.Calendar</a:t>
            </a:r>
            <a:r>
              <a:rPr lang="en-IN" sz="2200" dirty="0"/>
              <a:t>, </a:t>
            </a:r>
            <a:r>
              <a:rPr lang="en-IN" sz="2200" dirty="0" err="1"/>
              <a:t>ResourceBundle</a:t>
            </a:r>
            <a:r>
              <a:rPr lang="en-IN" sz="2200" dirty="0"/>
              <a:t> and </a:t>
            </a:r>
            <a:r>
              <a:rPr lang="en-IN" sz="2200" dirty="0" err="1"/>
              <a:t>NumberFormat</a:t>
            </a:r>
            <a:r>
              <a:rPr lang="en-IN" sz="2200" dirty="0"/>
              <a:t> </a:t>
            </a:r>
            <a:r>
              <a:rPr lang="en-IN" sz="2200" dirty="0" err="1"/>
              <a:t>getInstance</a:t>
            </a:r>
            <a:r>
              <a:rPr lang="en-IN" sz="2200" dirty="0"/>
              <a:t>() methods uses Factory pattern.</a:t>
            </a:r>
          </a:p>
          <a:p>
            <a:r>
              <a:rPr lang="en-IN" sz="2200" dirty="0" err="1"/>
              <a:t>valueOf</a:t>
            </a:r>
            <a:r>
              <a:rPr lang="en-IN" sz="2200" dirty="0"/>
              <a:t>() method in wrapper classes like Boolean, Integer etc.</a:t>
            </a:r>
          </a:p>
        </p:txBody>
      </p:sp>
      <p:sp>
        <p:nvSpPr>
          <p:cNvPr id="8" name="Title 1">
            <a:extLst>
              <a:ext uri="{FF2B5EF4-FFF2-40B4-BE49-F238E27FC236}">
                <a16:creationId xmlns:a16="http://schemas.microsoft.com/office/drawing/2014/main" id="{962929B7-EE56-6C42-9E3A-BBDE67A0B2AB}"/>
              </a:ext>
            </a:extLst>
          </p:cNvPr>
          <p:cNvSpPr txBox="1">
            <a:spLocks/>
          </p:cNvSpPr>
          <p:nvPr/>
        </p:nvSpPr>
        <p:spPr>
          <a:xfrm>
            <a:off x="754118" y="4353657"/>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Usages:</a:t>
            </a:r>
          </a:p>
        </p:txBody>
      </p:sp>
      <p:sp>
        <p:nvSpPr>
          <p:cNvPr id="9" name="Content Placeholder 2">
            <a:extLst>
              <a:ext uri="{FF2B5EF4-FFF2-40B4-BE49-F238E27FC236}">
                <a16:creationId xmlns:a16="http://schemas.microsoft.com/office/drawing/2014/main" id="{F98D755B-81A3-434F-AE47-FE258FA8C5BC}"/>
              </a:ext>
            </a:extLst>
          </p:cNvPr>
          <p:cNvSpPr txBox="1">
            <a:spLocks/>
          </p:cNvSpPr>
          <p:nvPr/>
        </p:nvSpPr>
        <p:spPr>
          <a:xfrm>
            <a:off x="1294088" y="3030784"/>
            <a:ext cx="9752284" cy="2100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Factory class can be singleton or can use public static method to return subclass</a:t>
            </a:r>
          </a:p>
          <a:p>
            <a:r>
              <a:rPr lang="en-IN" sz="2200" dirty="0"/>
              <a:t>Based on the input parameter, different subclass is created and returned.</a:t>
            </a:r>
          </a:p>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/factory</a:t>
            </a:r>
          </a:p>
        </p:txBody>
      </p:sp>
    </p:spTree>
    <p:extLst>
      <p:ext uri="{BB962C8B-B14F-4D97-AF65-F5344CB8AC3E}">
        <p14:creationId xmlns:p14="http://schemas.microsoft.com/office/powerpoint/2010/main" val="28444759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Abstract Factory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8925910" cy="5169666"/>
          </a:xfrm>
        </p:spPr>
        <p:txBody>
          <a:bodyPr>
            <a:normAutofit/>
          </a:bodyPr>
          <a:lstStyle/>
          <a:p>
            <a:r>
              <a:rPr lang="en-IN" sz="2400" dirty="0"/>
              <a:t>In the Abstract Factory pattern, we get rid of if-else block like in Factory pattern and have a factory class for each sub-class. Then an Abstract Factory class that will return the sub-class based on the input factory class.</a:t>
            </a:r>
          </a:p>
        </p:txBody>
      </p:sp>
      <p:sp>
        <p:nvSpPr>
          <p:cNvPr id="4" name="Title 1">
            <a:extLst>
              <a:ext uri="{FF2B5EF4-FFF2-40B4-BE49-F238E27FC236}">
                <a16:creationId xmlns:a16="http://schemas.microsoft.com/office/drawing/2014/main" id="{89430F97-29C8-DE42-A917-73536060824B}"/>
              </a:ext>
            </a:extLst>
          </p:cNvPr>
          <p:cNvSpPr txBox="1">
            <a:spLocks/>
          </p:cNvSpPr>
          <p:nvPr/>
        </p:nvSpPr>
        <p:spPr>
          <a:xfrm>
            <a:off x="601719" y="2467194"/>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Abstract Factory Pattern Implementation:</a:t>
            </a:r>
          </a:p>
        </p:txBody>
      </p:sp>
      <p:sp>
        <p:nvSpPr>
          <p:cNvPr id="5" name="Content Placeholder 2">
            <a:extLst>
              <a:ext uri="{FF2B5EF4-FFF2-40B4-BE49-F238E27FC236}">
                <a16:creationId xmlns:a16="http://schemas.microsoft.com/office/drawing/2014/main" id="{22945EB5-22CF-4549-A815-623C72868D8E}"/>
              </a:ext>
            </a:extLst>
          </p:cNvPr>
          <p:cNvSpPr txBox="1">
            <a:spLocks/>
          </p:cNvSpPr>
          <p:nvPr/>
        </p:nvSpPr>
        <p:spPr>
          <a:xfrm>
            <a:off x="1024103" y="3373396"/>
            <a:ext cx="9752284" cy="2100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Uses abstraction to get instance of subclass</a:t>
            </a:r>
          </a:p>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a:t>
            </a:r>
            <a:r>
              <a:rPr lang="en-IN" sz="2200" dirty="0" err="1"/>
              <a:t>abstractfactory</a:t>
            </a:r>
            <a:endParaRPr lang="en-IN" sz="2200" dirty="0"/>
          </a:p>
        </p:txBody>
      </p:sp>
      <p:sp>
        <p:nvSpPr>
          <p:cNvPr id="6" name="Title 1">
            <a:extLst>
              <a:ext uri="{FF2B5EF4-FFF2-40B4-BE49-F238E27FC236}">
                <a16:creationId xmlns:a16="http://schemas.microsoft.com/office/drawing/2014/main" id="{86FD403F-1FA2-8F47-93AD-7B31B780FA56}"/>
              </a:ext>
            </a:extLst>
          </p:cNvPr>
          <p:cNvSpPr txBox="1">
            <a:spLocks/>
          </p:cNvSpPr>
          <p:nvPr/>
        </p:nvSpPr>
        <p:spPr>
          <a:xfrm>
            <a:off x="601719" y="4556460"/>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Usages:</a:t>
            </a:r>
          </a:p>
        </p:txBody>
      </p:sp>
      <p:sp>
        <p:nvSpPr>
          <p:cNvPr id="7" name="Content Placeholder 2">
            <a:extLst>
              <a:ext uri="{FF2B5EF4-FFF2-40B4-BE49-F238E27FC236}">
                <a16:creationId xmlns:a16="http://schemas.microsoft.com/office/drawing/2014/main" id="{9C2C954C-056A-0E48-B290-93F734ECF25E}"/>
              </a:ext>
            </a:extLst>
          </p:cNvPr>
          <p:cNvSpPr txBox="1">
            <a:spLocks/>
          </p:cNvSpPr>
          <p:nvPr/>
        </p:nvSpPr>
        <p:spPr>
          <a:xfrm>
            <a:off x="1082896" y="5452111"/>
            <a:ext cx="9752284" cy="2100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err="1"/>
              <a:t>javax.xml.parsers.DocumentBuilderFactory#newInstance</a:t>
            </a:r>
            <a:r>
              <a:rPr lang="en-IN" sz="2200" dirty="0"/>
              <a:t>()</a:t>
            </a:r>
          </a:p>
          <a:p>
            <a:r>
              <a:rPr lang="en-IN" sz="2200" dirty="0" err="1"/>
              <a:t>javax.xml.transform.TransformerFactory#newInstance</a:t>
            </a:r>
            <a:r>
              <a:rPr lang="en-IN" sz="2200" dirty="0"/>
              <a:t>()</a:t>
            </a:r>
          </a:p>
          <a:p>
            <a:r>
              <a:rPr lang="en-IN" sz="2200" dirty="0" err="1"/>
              <a:t>javax.xml.xpath.XPathFactory#newInstance</a:t>
            </a:r>
            <a:r>
              <a:rPr lang="en-IN" sz="2200" dirty="0"/>
              <a:t>()</a:t>
            </a:r>
          </a:p>
        </p:txBody>
      </p:sp>
    </p:spTree>
    <p:extLst>
      <p:ext uri="{BB962C8B-B14F-4D97-AF65-F5344CB8AC3E}">
        <p14:creationId xmlns:p14="http://schemas.microsoft.com/office/powerpoint/2010/main" val="3697154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Builder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7" y="1220623"/>
            <a:ext cx="9316639" cy="1077734"/>
          </a:xfrm>
        </p:spPr>
        <p:txBody>
          <a:bodyPr>
            <a:normAutofit lnSpcReduction="10000"/>
          </a:bodyPr>
          <a:lstStyle/>
          <a:p>
            <a:r>
              <a:rPr lang="en-IN" sz="2400" dirty="0"/>
              <a:t>Builder pattern was introduced to solve some of the problems with Factory and Abstract Factory design patterns when the object contains a lot of attributes</a:t>
            </a:r>
          </a:p>
        </p:txBody>
      </p:sp>
      <p:sp>
        <p:nvSpPr>
          <p:cNvPr id="4" name="Title 1">
            <a:extLst>
              <a:ext uri="{FF2B5EF4-FFF2-40B4-BE49-F238E27FC236}">
                <a16:creationId xmlns:a16="http://schemas.microsoft.com/office/drawing/2014/main" id="{F122559F-1049-3440-875A-323A1742F150}"/>
              </a:ext>
            </a:extLst>
          </p:cNvPr>
          <p:cNvSpPr txBox="1">
            <a:spLocks/>
          </p:cNvSpPr>
          <p:nvPr/>
        </p:nvSpPr>
        <p:spPr>
          <a:xfrm>
            <a:off x="754117" y="2298357"/>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Builder Pattern Implementation:</a:t>
            </a:r>
          </a:p>
        </p:txBody>
      </p:sp>
      <p:sp>
        <p:nvSpPr>
          <p:cNvPr id="6" name="Content Placeholder 2">
            <a:extLst>
              <a:ext uri="{FF2B5EF4-FFF2-40B4-BE49-F238E27FC236}">
                <a16:creationId xmlns:a16="http://schemas.microsoft.com/office/drawing/2014/main" id="{7A5E7EB4-17C6-FC4D-B193-ED5D8EA4C7CA}"/>
              </a:ext>
            </a:extLst>
          </p:cNvPr>
          <p:cNvSpPr txBox="1">
            <a:spLocks/>
          </p:cNvSpPr>
          <p:nvPr/>
        </p:nvSpPr>
        <p:spPr>
          <a:xfrm>
            <a:off x="1294088" y="3030784"/>
            <a:ext cx="9752284" cy="210064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Static nested class called Builder class with same </a:t>
            </a:r>
            <a:r>
              <a:rPr lang="en-IN" sz="2200" dirty="0" err="1"/>
              <a:t>args</a:t>
            </a:r>
            <a:r>
              <a:rPr lang="en-IN" sz="2200" dirty="0"/>
              <a:t> as outer class</a:t>
            </a:r>
          </a:p>
          <a:p>
            <a:r>
              <a:rPr lang="en-IN" sz="2200" dirty="0"/>
              <a:t>Builder class with public class with all required parameters</a:t>
            </a:r>
          </a:p>
          <a:p>
            <a:r>
              <a:rPr lang="en-IN" sz="2200" dirty="0"/>
              <a:t>Builder class should have methods to set optional parameters and should return the same builder object after setting the optional parameters</a:t>
            </a:r>
          </a:p>
          <a:p>
            <a:r>
              <a:rPr lang="en-IN" sz="2200" dirty="0"/>
              <a:t>build() method in builder class that will return the object</a:t>
            </a:r>
          </a:p>
          <a:p>
            <a:r>
              <a:rPr lang="en-IN" sz="2200" dirty="0"/>
              <a:t>Outer class should have private constructor so that builder class build() method is the only was to get the object</a:t>
            </a:r>
          </a:p>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/builder</a:t>
            </a:r>
          </a:p>
        </p:txBody>
      </p:sp>
    </p:spTree>
    <p:extLst>
      <p:ext uri="{BB962C8B-B14F-4D97-AF65-F5344CB8AC3E}">
        <p14:creationId xmlns:p14="http://schemas.microsoft.com/office/powerpoint/2010/main" val="3997295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B5D1DF2-99E1-7D4F-8FB2-764EFC237616}"/>
              </a:ext>
            </a:extLst>
          </p:cNvPr>
          <p:cNvSpPr txBox="1">
            <a:spLocks/>
          </p:cNvSpPr>
          <p:nvPr/>
        </p:nvSpPr>
        <p:spPr>
          <a:xfrm>
            <a:off x="851019" y="411217"/>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Usages:</a:t>
            </a:r>
          </a:p>
        </p:txBody>
      </p:sp>
      <p:sp>
        <p:nvSpPr>
          <p:cNvPr id="5" name="Content Placeholder 2">
            <a:extLst>
              <a:ext uri="{FF2B5EF4-FFF2-40B4-BE49-F238E27FC236}">
                <a16:creationId xmlns:a16="http://schemas.microsoft.com/office/drawing/2014/main" id="{B7D2A421-28D3-C94C-887D-40C0EC2A841C}"/>
              </a:ext>
            </a:extLst>
          </p:cNvPr>
          <p:cNvSpPr txBox="1">
            <a:spLocks/>
          </p:cNvSpPr>
          <p:nvPr/>
        </p:nvSpPr>
        <p:spPr>
          <a:xfrm>
            <a:off x="1390987" y="1328354"/>
            <a:ext cx="9752285" cy="210064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err="1"/>
              <a:t>java.lang.StringBuilder#append</a:t>
            </a:r>
            <a:r>
              <a:rPr lang="en-IN" sz="2200" dirty="0"/>
              <a:t>() (unsynchronized)</a:t>
            </a:r>
          </a:p>
          <a:p>
            <a:r>
              <a:rPr lang="en-IN" sz="2200" dirty="0" err="1"/>
              <a:t>java.lang.StringBuffer#append</a:t>
            </a:r>
            <a:r>
              <a:rPr lang="en-IN" sz="2200" dirty="0"/>
              <a:t>() (synchronized)</a:t>
            </a:r>
          </a:p>
        </p:txBody>
      </p:sp>
    </p:spTree>
    <p:extLst>
      <p:ext uri="{BB962C8B-B14F-4D97-AF65-F5344CB8AC3E}">
        <p14:creationId xmlns:p14="http://schemas.microsoft.com/office/powerpoint/2010/main" val="196421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Prototype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7" y="844167"/>
            <a:ext cx="9477277" cy="1108201"/>
          </a:xfrm>
        </p:spPr>
        <p:txBody>
          <a:bodyPr>
            <a:normAutofit/>
          </a:bodyPr>
          <a:lstStyle/>
          <a:p>
            <a:r>
              <a:rPr lang="en-IN" sz="2400" dirty="0"/>
              <a:t>Prototype design pattern is used when the Object creation is a costly affair and requires a lot of time and resources and you have a similar object already existing.</a:t>
            </a:r>
          </a:p>
        </p:txBody>
      </p:sp>
      <p:sp>
        <p:nvSpPr>
          <p:cNvPr id="4" name="Title 1">
            <a:extLst>
              <a:ext uri="{FF2B5EF4-FFF2-40B4-BE49-F238E27FC236}">
                <a16:creationId xmlns:a16="http://schemas.microsoft.com/office/drawing/2014/main" id="{7635999B-7CA5-144F-9A04-894F19B0A036}"/>
              </a:ext>
            </a:extLst>
          </p:cNvPr>
          <p:cNvSpPr txBox="1">
            <a:spLocks/>
          </p:cNvSpPr>
          <p:nvPr/>
        </p:nvSpPr>
        <p:spPr>
          <a:xfrm>
            <a:off x="754117" y="2511863"/>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Prototype Pattern Implementation:</a:t>
            </a:r>
          </a:p>
        </p:txBody>
      </p:sp>
      <p:sp>
        <p:nvSpPr>
          <p:cNvPr id="5" name="Content Placeholder 2">
            <a:extLst>
              <a:ext uri="{FF2B5EF4-FFF2-40B4-BE49-F238E27FC236}">
                <a16:creationId xmlns:a16="http://schemas.microsoft.com/office/drawing/2014/main" id="{D3A66763-8B59-2842-8374-2BF6C5CF6233}"/>
              </a:ext>
            </a:extLst>
          </p:cNvPr>
          <p:cNvSpPr txBox="1">
            <a:spLocks/>
          </p:cNvSpPr>
          <p:nvPr/>
        </p:nvSpPr>
        <p:spPr>
          <a:xfrm>
            <a:off x="1176501" y="3418065"/>
            <a:ext cx="9752284" cy="145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Prototype design pattern uses java cloning to copy the object via Cloneable interface</a:t>
            </a:r>
          </a:p>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/prototype</a:t>
            </a:r>
          </a:p>
        </p:txBody>
      </p:sp>
    </p:spTree>
    <p:extLst>
      <p:ext uri="{BB962C8B-B14F-4D97-AF65-F5344CB8AC3E}">
        <p14:creationId xmlns:p14="http://schemas.microsoft.com/office/powerpoint/2010/main" val="2269340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Adapter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030014"/>
            <a:ext cx="8925910" cy="917137"/>
          </a:xfrm>
        </p:spPr>
        <p:txBody>
          <a:bodyPr>
            <a:normAutofit fontScale="92500" lnSpcReduction="10000"/>
          </a:bodyPr>
          <a:lstStyle/>
          <a:p>
            <a:r>
              <a:rPr lang="en-IN" sz="2400" dirty="0"/>
              <a:t>Adapter pattern is used so that two unrelated interfaces can work together. The object that joins these unrelated interface is called an Adapter. </a:t>
            </a:r>
          </a:p>
        </p:txBody>
      </p:sp>
      <p:sp>
        <p:nvSpPr>
          <p:cNvPr id="5" name="Title 1">
            <a:extLst>
              <a:ext uri="{FF2B5EF4-FFF2-40B4-BE49-F238E27FC236}">
                <a16:creationId xmlns:a16="http://schemas.microsoft.com/office/drawing/2014/main" id="{8427E8C6-7F6A-1F4F-8712-C5A950D4BF75}"/>
              </a:ext>
            </a:extLst>
          </p:cNvPr>
          <p:cNvSpPr txBox="1">
            <a:spLocks/>
          </p:cNvSpPr>
          <p:nvPr/>
        </p:nvSpPr>
        <p:spPr>
          <a:xfrm>
            <a:off x="618192" y="2054663"/>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Adapter Pattern Implementation:</a:t>
            </a:r>
          </a:p>
        </p:txBody>
      </p:sp>
      <p:sp>
        <p:nvSpPr>
          <p:cNvPr id="6" name="Content Placeholder 2">
            <a:extLst>
              <a:ext uri="{FF2B5EF4-FFF2-40B4-BE49-F238E27FC236}">
                <a16:creationId xmlns:a16="http://schemas.microsoft.com/office/drawing/2014/main" id="{D05625B3-61A0-C44B-BA45-882E5F64D141}"/>
              </a:ext>
            </a:extLst>
          </p:cNvPr>
          <p:cNvSpPr txBox="1">
            <a:spLocks/>
          </p:cNvSpPr>
          <p:nvPr/>
        </p:nvSpPr>
        <p:spPr>
          <a:xfrm>
            <a:off x="1040576" y="2960865"/>
            <a:ext cx="9752284" cy="145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/adapter</a:t>
            </a:r>
          </a:p>
        </p:txBody>
      </p:sp>
    </p:spTree>
    <p:extLst>
      <p:ext uri="{BB962C8B-B14F-4D97-AF65-F5344CB8AC3E}">
        <p14:creationId xmlns:p14="http://schemas.microsoft.com/office/powerpoint/2010/main" val="3509167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Bridge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7" y="1220623"/>
            <a:ext cx="10292253" cy="1374296"/>
          </a:xfrm>
        </p:spPr>
        <p:txBody>
          <a:bodyPr>
            <a:normAutofit lnSpcReduction="10000"/>
          </a:bodyPr>
          <a:lstStyle/>
          <a:p>
            <a:r>
              <a:rPr lang="en-IN" sz="2400" dirty="0"/>
              <a:t>When we have interface hierarchies in both interfaces as well as implementations, then bridge design pattern is used to decouple the interfaces from implementation and hiding the implementation details from the client programs.</a:t>
            </a:r>
          </a:p>
        </p:txBody>
      </p:sp>
      <p:sp>
        <p:nvSpPr>
          <p:cNvPr id="4" name="Title 1">
            <a:extLst>
              <a:ext uri="{FF2B5EF4-FFF2-40B4-BE49-F238E27FC236}">
                <a16:creationId xmlns:a16="http://schemas.microsoft.com/office/drawing/2014/main" id="{19CFCED8-6259-894A-A361-64447E8D48BF}"/>
              </a:ext>
            </a:extLst>
          </p:cNvPr>
          <p:cNvSpPr txBox="1">
            <a:spLocks/>
          </p:cNvSpPr>
          <p:nvPr/>
        </p:nvSpPr>
        <p:spPr>
          <a:xfrm>
            <a:off x="754116" y="2785528"/>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Bridge Pattern Implementation:</a:t>
            </a:r>
          </a:p>
        </p:txBody>
      </p:sp>
      <p:sp>
        <p:nvSpPr>
          <p:cNvPr id="5" name="Content Placeholder 2">
            <a:extLst>
              <a:ext uri="{FF2B5EF4-FFF2-40B4-BE49-F238E27FC236}">
                <a16:creationId xmlns:a16="http://schemas.microsoft.com/office/drawing/2014/main" id="{914B7C62-E4EE-E345-8B09-D8E5B1AC3871}"/>
              </a:ext>
            </a:extLst>
          </p:cNvPr>
          <p:cNvSpPr txBox="1">
            <a:spLocks/>
          </p:cNvSpPr>
          <p:nvPr/>
        </p:nvSpPr>
        <p:spPr>
          <a:xfrm>
            <a:off x="1176500" y="3691730"/>
            <a:ext cx="9752284" cy="145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/bridge</a:t>
            </a:r>
          </a:p>
        </p:txBody>
      </p:sp>
    </p:spTree>
    <p:extLst>
      <p:ext uri="{BB962C8B-B14F-4D97-AF65-F5344CB8AC3E}">
        <p14:creationId xmlns:p14="http://schemas.microsoft.com/office/powerpoint/2010/main" val="2729701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DAO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10552314" cy="1497863"/>
          </a:xfrm>
        </p:spPr>
        <p:txBody>
          <a:bodyPr>
            <a:normAutofit/>
          </a:bodyPr>
          <a:lstStyle/>
          <a:p>
            <a:r>
              <a:rPr lang="en-IN" sz="2400" dirty="0"/>
              <a:t>DAO stands for Data Access Object. DAO Design Pattern is used to separate the data persistence logic in a separate layer. This way, the service remains completely in dark about how the low-level operations to access the database is done. This is known as the principle of Separation of Logic.</a:t>
            </a:r>
          </a:p>
        </p:txBody>
      </p:sp>
      <p:sp>
        <p:nvSpPr>
          <p:cNvPr id="4" name="Title 1">
            <a:extLst>
              <a:ext uri="{FF2B5EF4-FFF2-40B4-BE49-F238E27FC236}">
                <a16:creationId xmlns:a16="http://schemas.microsoft.com/office/drawing/2014/main" id="{2F4D9883-24AA-FE46-BEFF-4265A665172B}"/>
              </a:ext>
            </a:extLst>
          </p:cNvPr>
          <p:cNvSpPr txBox="1">
            <a:spLocks/>
          </p:cNvSpPr>
          <p:nvPr/>
        </p:nvSpPr>
        <p:spPr>
          <a:xfrm>
            <a:off x="754116" y="2785528"/>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DAO Pattern Implementation:</a:t>
            </a:r>
          </a:p>
        </p:txBody>
      </p:sp>
      <p:sp>
        <p:nvSpPr>
          <p:cNvPr id="5" name="Content Placeholder 2">
            <a:extLst>
              <a:ext uri="{FF2B5EF4-FFF2-40B4-BE49-F238E27FC236}">
                <a16:creationId xmlns:a16="http://schemas.microsoft.com/office/drawing/2014/main" id="{47B6E91C-F438-ED45-B510-FDD152CA52D8}"/>
              </a:ext>
            </a:extLst>
          </p:cNvPr>
          <p:cNvSpPr txBox="1">
            <a:spLocks/>
          </p:cNvSpPr>
          <p:nvPr/>
        </p:nvSpPr>
        <p:spPr>
          <a:xfrm>
            <a:off x="1024101" y="3744952"/>
            <a:ext cx="9752284" cy="145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The model which is transferred from one layer to the other.</a:t>
            </a:r>
          </a:p>
          <a:p>
            <a:r>
              <a:rPr lang="en-IN" sz="2200" dirty="0"/>
              <a:t>The interfaces which provides a flexible design.</a:t>
            </a:r>
          </a:p>
          <a:p>
            <a:r>
              <a:rPr lang="en-IN" sz="2200" dirty="0"/>
              <a:t>The interface implementation which is a concrete implementation of the persistence logic.</a:t>
            </a:r>
          </a:p>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a:t>
            </a:r>
            <a:r>
              <a:rPr lang="en-IN" sz="2200" dirty="0" err="1"/>
              <a:t>dao</a:t>
            </a:r>
            <a:endParaRPr lang="en-IN" sz="2200" dirty="0"/>
          </a:p>
        </p:txBody>
      </p:sp>
    </p:spTree>
    <p:extLst>
      <p:ext uri="{BB962C8B-B14F-4D97-AF65-F5344CB8AC3E}">
        <p14:creationId xmlns:p14="http://schemas.microsoft.com/office/powerpoint/2010/main" val="197747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Dependency Injection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10548882" cy="2017877"/>
          </a:xfrm>
        </p:spPr>
        <p:txBody>
          <a:bodyPr>
            <a:normAutofit/>
          </a:bodyPr>
          <a:lstStyle/>
          <a:p>
            <a:r>
              <a:rPr lang="en-IN" sz="2400" dirty="0"/>
              <a:t>Dependency Injection allows us to remove the hard-coded dependencies and make our application loosely coupled, extendable, and maintainable. We can implement dependency injection in java to move the dependency resolution from compile-time to runtime. Spring framework is built on the principle of dependency injection</a:t>
            </a:r>
          </a:p>
        </p:txBody>
      </p:sp>
      <p:sp>
        <p:nvSpPr>
          <p:cNvPr id="177" name="Title 1">
            <a:extLst>
              <a:ext uri="{FF2B5EF4-FFF2-40B4-BE49-F238E27FC236}">
                <a16:creationId xmlns:a16="http://schemas.microsoft.com/office/drawing/2014/main" id="{51D17540-F9D0-6541-A387-9334DE520BA0}"/>
              </a:ext>
            </a:extLst>
          </p:cNvPr>
          <p:cNvSpPr txBox="1">
            <a:spLocks/>
          </p:cNvSpPr>
          <p:nvPr/>
        </p:nvSpPr>
        <p:spPr>
          <a:xfrm>
            <a:off x="754118" y="3160932"/>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Dependency Injection Pattern Implementation:</a:t>
            </a:r>
          </a:p>
        </p:txBody>
      </p:sp>
      <p:sp>
        <p:nvSpPr>
          <p:cNvPr id="178" name="Content Placeholder 2">
            <a:extLst>
              <a:ext uri="{FF2B5EF4-FFF2-40B4-BE49-F238E27FC236}">
                <a16:creationId xmlns:a16="http://schemas.microsoft.com/office/drawing/2014/main" id="{23E801D4-9431-2345-8DA9-2E28D51E7F08}"/>
              </a:ext>
            </a:extLst>
          </p:cNvPr>
          <p:cNvSpPr txBox="1">
            <a:spLocks/>
          </p:cNvSpPr>
          <p:nvPr/>
        </p:nvSpPr>
        <p:spPr>
          <a:xfrm>
            <a:off x="1219858" y="4027270"/>
            <a:ext cx="9752284" cy="145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src</a:t>
            </a:r>
            <a:r>
              <a:rPr lang="en-IN" sz="2200" dirty="0"/>
              <a:t>/</a:t>
            </a:r>
            <a:r>
              <a:rPr lang="en-IN" sz="2200" dirty="0" err="1"/>
              <a:t>dependencyinjection</a:t>
            </a:r>
            <a:endParaRPr lang="en-IN" sz="2200" dirty="0"/>
          </a:p>
        </p:txBody>
      </p:sp>
    </p:spTree>
    <p:extLst>
      <p:ext uri="{BB962C8B-B14F-4D97-AF65-F5344CB8AC3E}">
        <p14:creationId xmlns:p14="http://schemas.microsoft.com/office/powerpoint/2010/main" val="33041179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582F3-5BC2-114F-AB51-A93318B338BF}"/>
              </a:ext>
            </a:extLst>
          </p:cNvPr>
          <p:cNvSpPr>
            <a:spLocks noGrp="1"/>
          </p:cNvSpPr>
          <p:nvPr>
            <p:ph type="title"/>
          </p:nvPr>
        </p:nvSpPr>
        <p:spPr>
          <a:xfrm>
            <a:off x="754118" y="112877"/>
            <a:ext cx="10292254" cy="917137"/>
          </a:xfrm>
        </p:spPr>
        <p:txBody>
          <a:bodyPr>
            <a:normAutofit/>
          </a:bodyPr>
          <a:lstStyle/>
          <a:p>
            <a:r>
              <a:rPr lang="en-US" sz="3600" dirty="0"/>
              <a:t>MVC Pattern:</a:t>
            </a:r>
          </a:p>
        </p:txBody>
      </p:sp>
      <p:sp>
        <p:nvSpPr>
          <p:cNvPr id="3" name="Content Placeholder 2">
            <a:extLst>
              <a:ext uri="{FF2B5EF4-FFF2-40B4-BE49-F238E27FC236}">
                <a16:creationId xmlns:a16="http://schemas.microsoft.com/office/drawing/2014/main" id="{74DE91CD-4A20-AC46-8762-EBB6F07F5235}"/>
              </a:ext>
            </a:extLst>
          </p:cNvPr>
          <p:cNvSpPr>
            <a:spLocks noGrp="1"/>
          </p:cNvSpPr>
          <p:nvPr>
            <p:ph idx="1"/>
          </p:nvPr>
        </p:nvSpPr>
        <p:spPr>
          <a:xfrm>
            <a:off x="754118" y="1220623"/>
            <a:ext cx="11056882" cy="1395577"/>
          </a:xfrm>
        </p:spPr>
        <p:txBody>
          <a:bodyPr>
            <a:normAutofit lnSpcReduction="10000"/>
          </a:bodyPr>
          <a:lstStyle/>
          <a:p>
            <a:r>
              <a:rPr lang="en-IN" sz="2400" dirty="0"/>
              <a:t>MVC Design Pattern is one of the oldest architectural pattern for web applications. MVC stands for Model View Controller. MVC Design Pattern is used to separate the logic of different layers in a program in independent units. This is known as the principle of Separation of Concern.</a:t>
            </a:r>
          </a:p>
        </p:txBody>
      </p:sp>
      <p:sp>
        <p:nvSpPr>
          <p:cNvPr id="4" name="Title 1">
            <a:extLst>
              <a:ext uri="{FF2B5EF4-FFF2-40B4-BE49-F238E27FC236}">
                <a16:creationId xmlns:a16="http://schemas.microsoft.com/office/drawing/2014/main" id="{74361B62-A76B-A54E-90E2-B6A2C57632E8}"/>
              </a:ext>
            </a:extLst>
          </p:cNvPr>
          <p:cNvSpPr txBox="1">
            <a:spLocks/>
          </p:cNvSpPr>
          <p:nvPr/>
        </p:nvSpPr>
        <p:spPr>
          <a:xfrm>
            <a:off x="665218" y="2806809"/>
            <a:ext cx="10292254" cy="91713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itchFamily="2" charset="2"/>
              <a:buChar char="Ø"/>
            </a:pPr>
            <a:r>
              <a:rPr lang="en-US" sz="2800" dirty="0"/>
              <a:t>MVC Pattern Implementation:</a:t>
            </a:r>
          </a:p>
        </p:txBody>
      </p:sp>
      <p:sp>
        <p:nvSpPr>
          <p:cNvPr id="5" name="Content Placeholder 2">
            <a:extLst>
              <a:ext uri="{FF2B5EF4-FFF2-40B4-BE49-F238E27FC236}">
                <a16:creationId xmlns:a16="http://schemas.microsoft.com/office/drawing/2014/main" id="{33C752A8-1997-B142-922E-AC50A96E9775}"/>
              </a:ext>
            </a:extLst>
          </p:cNvPr>
          <p:cNvSpPr txBox="1">
            <a:spLocks/>
          </p:cNvSpPr>
          <p:nvPr/>
        </p:nvSpPr>
        <p:spPr>
          <a:xfrm>
            <a:off x="1130958" y="3673147"/>
            <a:ext cx="10108542" cy="145809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dirty="0"/>
              <a:t>https://</a:t>
            </a:r>
            <a:r>
              <a:rPr lang="en-IN" sz="2200" dirty="0" err="1"/>
              <a:t>github.com</a:t>
            </a:r>
            <a:r>
              <a:rPr lang="en-IN" sz="2200" dirty="0"/>
              <a:t>/amanjain201/</a:t>
            </a:r>
            <a:r>
              <a:rPr lang="en-IN" sz="2200" dirty="0" err="1"/>
              <a:t>JavaDesignPattern</a:t>
            </a:r>
            <a:r>
              <a:rPr lang="en-IN" sz="2200" dirty="0"/>
              <a:t>/tree/master/</a:t>
            </a:r>
            <a:r>
              <a:rPr lang="en-IN" sz="2200" dirty="0" err="1"/>
              <a:t>SpringBootMVC</a:t>
            </a:r>
            <a:r>
              <a:rPr lang="en-IN" sz="2200" dirty="0"/>
              <a:t>/</a:t>
            </a:r>
          </a:p>
        </p:txBody>
      </p:sp>
    </p:spTree>
    <p:extLst>
      <p:ext uri="{BB962C8B-B14F-4D97-AF65-F5344CB8AC3E}">
        <p14:creationId xmlns:p14="http://schemas.microsoft.com/office/powerpoint/2010/main" val="1728016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65757-5A0A-5146-9C44-2178C1CEDB18}"/>
              </a:ext>
            </a:extLst>
          </p:cNvPr>
          <p:cNvSpPr>
            <a:spLocks noGrp="1"/>
          </p:cNvSpPr>
          <p:nvPr>
            <p:ph type="title"/>
          </p:nvPr>
        </p:nvSpPr>
        <p:spPr>
          <a:xfrm>
            <a:off x="838200" y="2638425"/>
            <a:ext cx="10515600" cy="1325563"/>
          </a:xfrm>
        </p:spPr>
        <p:txBody>
          <a:bodyPr/>
          <a:lstStyle/>
          <a:p>
            <a:r>
              <a:rPr lang="en-US" dirty="0"/>
              <a:t>Thank You</a:t>
            </a:r>
          </a:p>
        </p:txBody>
      </p:sp>
    </p:spTree>
    <p:extLst>
      <p:ext uri="{BB962C8B-B14F-4D97-AF65-F5344CB8AC3E}">
        <p14:creationId xmlns:p14="http://schemas.microsoft.com/office/powerpoint/2010/main" val="1709392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8726</TotalTime>
  <Words>1001</Words>
  <Application>Microsoft Macintosh PowerPoint</Application>
  <PresentationFormat>Widescreen</PresentationFormat>
  <Paragraphs>79</Paragraphs>
  <Slides>15</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Wingdings</vt:lpstr>
      <vt:lpstr>Office Theme</vt:lpstr>
      <vt:lpstr>JAVA DESIGN PATTERNS</vt:lpstr>
      <vt:lpstr>Benefits of Design Patterns:</vt:lpstr>
      <vt:lpstr>Singleton Pattern:</vt:lpstr>
      <vt:lpstr>PowerPoint Presentation</vt:lpstr>
      <vt:lpstr>Factory Pattern:</vt:lpstr>
      <vt:lpstr>Abstract Factory Pattern:</vt:lpstr>
      <vt:lpstr>Builder Pattern:</vt:lpstr>
      <vt:lpstr>PowerPoint Presentation</vt:lpstr>
      <vt:lpstr>Prototype Pattern:</vt:lpstr>
      <vt:lpstr>Adapter Pattern:</vt:lpstr>
      <vt:lpstr>Bridge Pattern:</vt:lpstr>
      <vt:lpstr>DAO Pattern:</vt:lpstr>
      <vt:lpstr>Dependency Injection Pattern:</vt:lpstr>
      <vt:lpstr>MVC Pattern: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DESIGN PATTERNS</dc:title>
  <dc:creator>Aman Jain (amanjain)</dc:creator>
  <cp:lastModifiedBy>Aman Jain (amanjain)</cp:lastModifiedBy>
  <cp:revision>23</cp:revision>
  <dcterms:created xsi:type="dcterms:W3CDTF">2021-02-18T16:11:25Z</dcterms:created>
  <dcterms:modified xsi:type="dcterms:W3CDTF">2021-02-24T17:37:29Z</dcterms:modified>
</cp:coreProperties>
</file>